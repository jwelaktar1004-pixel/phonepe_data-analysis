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Alexandria" panose="020B0604020202020204" charset="-78"/>
      <p:regular r:id="rId10"/>
    </p:embeddedFont>
    <p:embeddedFont>
      <p:font typeface="Nobile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3753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05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7345" y="524351"/>
            <a:ext cx="5435798" cy="595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PhonePe Data Analysis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67345" y="1406247"/>
            <a:ext cx="7809309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End-to-end performance analysis of business services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67345" y="1925598"/>
            <a:ext cx="190619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67345" y="2226707"/>
            <a:ext cx="7809309" cy="22860"/>
          </a:xfrm>
          <a:prstGeom prst="rect">
            <a:avLst/>
          </a:prstGeom>
          <a:solidFill>
            <a:srgbClr val="1B54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67345" y="2367677"/>
            <a:ext cx="2383393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Revenue Analysis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67345" y="2779871"/>
            <a:ext cx="7809309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Identify contributions across services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7345" y="3418403"/>
            <a:ext cx="190619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67345" y="3719513"/>
            <a:ext cx="7809309" cy="22860"/>
          </a:xfrm>
          <a:prstGeom prst="rect">
            <a:avLst/>
          </a:prstGeom>
          <a:solidFill>
            <a:srgbClr val="1B54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67345" y="3860483"/>
            <a:ext cx="2383393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Seasonal Trends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67345" y="4272677"/>
            <a:ext cx="7809309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Discover peak performance periods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67345" y="4911209"/>
            <a:ext cx="190619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67345" y="5212318"/>
            <a:ext cx="7809309" cy="22860"/>
          </a:xfrm>
          <a:prstGeom prst="rect">
            <a:avLst/>
          </a:prstGeom>
          <a:solidFill>
            <a:srgbClr val="1B54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67345" y="5353288"/>
            <a:ext cx="2383393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Transaction Failures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667345" y="5765483"/>
            <a:ext cx="7809309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Pinpoint improvement opportunities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67345" y="6404015"/>
            <a:ext cx="190619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67345" y="6705124"/>
            <a:ext cx="7809309" cy="22860"/>
          </a:xfrm>
          <a:prstGeom prst="rect">
            <a:avLst/>
          </a:prstGeom>
          <a:solidFill>
            <a:srgbClr val="1B54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67345" y="6846094"/>
            <a:ext cx="2383393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Business Efficiency</a:t>
            </a:r>
            <a:endParaRPr lang="en-US" sz="1850" dirty="0"/>
          </a:p>
        </p:txBody>
      </p:sp>
      <p:sp>
        <p:nvSpPr>
          <p:cNvPr id="20" name="Text 17"/>
          <p:cNvSpPr/>
          <p:nvPr/>
        </p:nvSpPr>
        <p:spPr>
          <a:xfrm>
            <a:off x="667345" y="7258288"/>
            <a:ext cx="7809309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Enhance customer experience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9938" y="361355"/>
            <a:ext cx="3286006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Dataset Overview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9938" y="1100495"/>
            <a:ext cx="1971556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User Data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459938" y="1478280"/>
            <a:ext cx="6695003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 ID, Name, Age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9938" y="1734503"/>
            <a:ext cx="6695003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Join Date tracking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9938" y="1990725"/>
            <a:ext cx="6695003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Account creation metrics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9938" y="2332315"/>
            <a:ext cx="1971556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Transaction Data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9938" y="2710101"/>
            <a:ext cx="6695003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Transaction ID &amp; Amount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9938" y="2966323"/>
            <a:ext cx="6695003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Service Category &amp; Type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9938" y="3222546"/>
            <a:ext cx="6695003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Payment Status &amp; Reasons</a:t>
            </a:r>
            <a:endParaRPr lang="en-US" sz="10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3078" y="1116925"/>
            <a:ext cx="6695003" cy="6695003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59938" y="8107442"/>
            <a:ext cx="6789539" cy="772358"/>
          </a:xfrm>
          <a:prstGeom prst="roundRect">
            <a:avLst>
              <a:gd name="adj" fmla="val 7148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98884" y="8246388"/>
            <a:ext cx="164294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Recharge &amp; Bills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98884" y="8530590"/>
            <a:ext cx="6511647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DTH, Mobile, Utilities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380803" y="8107442"/>
            <a:ext cx="6789658" cy="772358"/>
          </a:xfrm>
          <a:prstGeom prst="roundRect">
            <a:avLst>
              <a:gd name="adj" fmla="val 7148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7519749" y="8246388"/>
            <a:ext cx="164294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Money Transfer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519749" y="8530590"/>
            <a:ext cx="6511766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UPI, Bank transfers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9938" y="9011126"/>
            <a:ext cx="6789539" cy="772358"/>
          </a:xfrm>
          <a:prstGeom prst="roundRect">
            <a:avLst>
              <a:gd name="adj" fmla="val 7148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98884" y="9150072"/>
            <a:ext cx="164294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Loans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98884" y="9434274"/>
            <a:ext cx="6511647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Personal, Gold, Business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380803" y="9011126"/>
            <a:ext cx="6789658" cy="772358"/>
          </a:xfrm>
          <a:prstGeom prst="roundRect">
            <a:avLst>
              <a:gd name="adj" fmla="val 7148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7519749" y="9150072"/>
            <a:ext cx="164294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Insurance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519749" y="9434274"/>
            <a:ext cx="6511766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Bike, Health, Life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143" y="452676"/>
            <a:ext cx="4556403" cy="514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Cleaning Process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40807" y="1543288"/>
            <a:ext cx="164544" cy="740688"/>
          </a:xfrm>
          <a:prstGeom prst="roundRect">
            <a:avLst>
              <a:gd name="adj" fmla="val 42023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76143" y="1435179"/>
            <a:ext cx="493871" cy="493871"/>
          </a:xfrm>
          <a:prstGeom prst="roundRect">
            <a:avLst>
              <a:gd name="adj" fmla="val 92575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611" y="1558647"/>
            <a:ext cx="246936" cy="246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559" y="1460897"/>
            <a:ext cx="205787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Missing Values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34559" y="1816775"/>
            <a:ext cx="12819698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Identified and handled null entries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987742" y="2695575"/>
            <a:ext cx="164544" cy="740688"/>
          </a:xfrm>
          <a:prstGeom prst="roundRect">
            <a:avLst>
              <a:gd name="adj" fmla="val 42023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823079" y="2587466"/>
            <a:ext cx="493871" cy="493871"/>
          </a:xfrm>
          <a:prstGeom prst="roundRect">
            <a:avLst>
              <a:gd name="adj" fmla="val 92575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547" y="2710934"/>
            <a:ext cx="246936" cy="2469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81495" y="2613184"/>
            <a:ext cx="205787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Outlier Treatment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81495" y="2969062"/>
            <a:ext cx="12572762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Detected and treated anomalies in numerical columns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1234678" y="3847862"/>
            <a:ext cx="164544" cy="740688"/>
          </a:xfrm>
          <a:prstGeom prst="roundRect">
            <a:avLst>
              <a:gd name="adj" fmla="val 42023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1070015" y="3739753"/>
            <a:ext cx="493871" cy="493871"/>
          </a:xfrm>
          <a:prstGeom prst="roundRect">
            <a:avLst>
              <a:gd name="adj" fmla="val 92575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93483" y="3863221"/>
            <a:ext cx="246936" cy="2469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28430" y="3765471"/>
            <a:ext cx="211836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Text Standardization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728430" y="4121348"/>
            <a:ext cx="12325826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Applied TRIM and CLEAN functions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1481614" y="5000149"/>
            <a:ext cx="164544" cy="740688"/>
          </a:xfrm>
          <a:prstGeom prst="roundRect">
            <a:avLst>
              <a:gd name="adj" fmla="val 42023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1316950" y="4892040"/>
            <a:ext cx="493871" cy="493871"/>
          </a:xfrm>
          <a:prstGeom prst="roundRect">
            <a:avLst>
              <a:gd name="adj" fmla="val 92575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40418" y="5015508"/>
            <a:ext cx="246936" cy="2469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975366" y="4917757"/>
            <a:ext cx="205787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Date Formatting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975366" y="5273635"/>
            <a:ext cx="12078891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Standardized date formats for consistency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1234678" y="6152436"/>
            <a:ext cx="164544" cy="740688"/>
          </a:xfrm>
          <a:prstGeom prst="roundRect">
            <a:avLst>
              <a:gd name="adj" fmla="val 42023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1070015" y="6044327"/>
            <a:ext cx="493871" cy="493871"/>
          </a:xfrm>
          <a:prstGeom prst="roundRect">
            <a:avLst>
              <a:gd name="adj" fmla="val 92575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93483" y="6167795"/>
            <a:ext cx="246936" cy="2469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728430" y="6070044"/>
            <a:ext cx="214098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Category Verification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1728430" y="6425922"/>
            <a:ext cx="12325826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Ensured consistency across tables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576143" y="7078385"/>
            <a:ext cx="13478113" cy="699373"/>
          </a:xfrm>
          <a:prstGeom prst="roundRect">
            <a:avLst>
              <a:gd name="adj" fmla="val 9887"/>
            </a:avLst>
          </a:prstGeom>
          <a:solidFill>
            <a:srgbClr val="BBCD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0688" y="7315200"/>
            <a:ext cx="205740" cy="16454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110972" y="7284006"/>
            <a:ext cx="12778740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Result:</a:t>
            </a:r>
            <a:r>
              <a:rPr lang="en-US" sz="12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Clean, structured, ready-to-analyze dataset using Power BI Power Query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3870" y="380167"/>
            <a:ext cx="5294590" cy="43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Business Performance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3870" y="1157645"/>
            <a:ext cx="2412206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Revenue Mix by Service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70" y="1572339"/>
            <a:ext cx="8062674" cy="434637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787843" y="5949196"/>
            <a:ext cx="138232" cy="138232"/>
          </a:xfrm>
          <a:prstGeom prst="roundRect">
            <a:avLst>
              <a:gd name="adj" fmla="val 13230"/>
            </a:avLst>
          </a:prstGeom>
          <a:solidFill>
            <a:srgbClr val="081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1987034" y="5949196"/>
            <a:ext cx="398145" cy="138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Loans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061454" y="5949196"/>
            <a:ext cx="138232" cy="138232"/>
          </a:xfrm>
          <a:prstGeom prst="roundRect">
            <a:avLst>
              <a:gd name="adj" fmla="val 13230"/>
            </a:avLst>
          </a:prstGeom>
          <a:solidFill>
            <a:srgbClr val="133B9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260646" y="5949196"/>
            <a:ext cx="654368" cy="138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Insurance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921210" y="5949196"/>
            <a:ext cx="138232" cy="138232"/>
          </a:xfrm>
          <a:prstGeom prst="roundRect">
            <a:avLst>
              <a:gd name="adj" fmla="val 13230"/>
            </a:avLst>
          </a:prstGeom>
          <a:solidFill>
            <a:srgbClr val="255E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120402" y="5949196"/>
            <a:ext cx="1042392" cy="138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Money Transfer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645116" y="5949196"/>
            <a:ext cx="138232" cy="138232"/>
          </a:xfrm>
          <a:prstGeom prst="roundRect">
            <a:avLst>
              <a:gd name="adj" fmla="val 13230"/>
            </a:avLst>
          </a:prstGeom>
          <a:solidFill>
            <a:srgbClr val="799C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844308" y="5949196"/>
            <a:ext cx="1064776" cy="138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Recharge &amp; Bills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891349" y="1243965"/>
            <a:ext cx="5262682" cy="45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35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300K</a:t>
            </a:r>
            <a:endParaRPr lang="en-US" sz="3550" dirty="0"/>
          </a:p>
        </p:txBody>
      </p:sp>
      <p:sp>
        <p:nvSpPr>
          <p:cNvPr id="14" name="Text 11"/>
          <p:cNvSpPr/>
          <p:nvPr/>
        </p:nvSpPr>
        <p:spPr>
          <a:xfrm>
            <a:off x="10658594" y="1872853"/>
            <a:ext cx="1728192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Total Transactions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891349" y="2434471"/>
            <a:ext cx="5262682" cy="45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35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288K</a:t>
            </a:r>
            <a:endParaRPr lang="en-US" sz="3550" dirty="0"/>
          </a:p>
        </p:txBody>
      </p:sp>
      <p:sp>
        <p:nvSpPr>
          <p:cNvPr id="16" name="Text 13"/>
          <p:cNvSpPr/>
          <p:nvPr/>
        </p:nvSpPr>
        <p:spPr>
          <a:xfrm>
            <a:off x="10658594" y="3063359"/>
            <a:ext cx="1728192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Successful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891349" y="3417689"/>
            <a:ext cx="5262682" cy="22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96% success rate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891349" y="3984308"/>
            <a:ext cx="5262682" cy="45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35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12K</a:t>
            </a:r>
            <a:endParaRPr lang="en-US" sz="3550" dirty="0"/>
          </a:p>
        </p:txBody>
      </p:sp>
      <p:sp>
        <p:nvSpPr>
          <p:cNvPr id="19" name="Text 16"/>
          <p:cNvSpPr/>
          <p:nvPr/>
        </p:nvSpPr>
        <p:spPr>
          <a:xfrm>
            <a:off x="10658594" y="4613196"/>
            <a:ext cx="1728192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Failed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891349" y="4967526"/>
            <a:ext cx="5262682" cy="22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4% failure rate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3870" y="6450211"/>
            <a:ext cx="2073831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Top Failure Reasons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83870" y="6916698"/>
            <a:ext cx="6762155" cy="827008"/>
          </a:xfrm>
          <a:prstGeom prst="roundRect">
            <a:avLst>
              <a:gd name="adj" fmla="val 8845"/>
            </a:avLst>
          </a:prstGeom>
          <a:solidFill>
            <a:srgbClr val="F9F9FF"/>
          </a:solidFill>
          <a:ln w="1524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468630" y="6916698"/>
            <a:ext cx="60960" cy="827008"/>
          </a:xfrm>
          <a:prstGeom prst="roundRect">
            <a:avLst>
              <a:gd name="adj" fmla="val 95257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683062" y="7070169"/>
            <a:ext cx="1728192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Server Error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83062" y="7369135"/>
            <a:ext cx="6409492" cy="22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System-side issues dominate failures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384256" y="6916698"/>
            <a:ext cx="6762274" cy="827008"/>
          </a:xfrm>
          <a:prstGeom prst="roundRect">
            <a:avLst>
              <a:gd name="adj" fmla="val 8845"/>
            </a:avLst>
          </a:prstGeom>
          <a:solidFill>
            <a:srgbClr val="F9F9FF"/>
          </a:solidFill>
          <a:ln w="1524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7369016" y="6916698"/>
            <a:ext cx="60960" cy="827008"/>
          </a:xfrm>
          <a:prstGeom prst="roundRect">
            <a:avLst>
              <a:gd name="adj" fmla="val 95257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7583448" y="7070169"/>
            <a:ext cx="1728192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Wrong PIN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7583448" y="7369135"/>
            <a:ext cx="6409611" cy="22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4K+ customer authentication errors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83870" y="7881938"/>
            <a:ext cx="6762155" cy="827008"/>
          </a:xfrm>
          <a:prstGeom prst="roundRect">
            <a:avLst>
              <a:gd name="adj" fmla="val 8845"/>
            </a:avLst>
          </a:prstGeom>
          <a:solidFill>
            <a:srgbClr val="F9F9FF"/>
          </a:solidFill>
          <a:ln w="1524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468630" y="7881938"/>
            <a:ext cx="60960" cy="827008"/>
          </a:xfrm>
          <a:prstGeom prst="roundRect">
            <a:avLst>
              <a:gd name="adj" fmla="val 95257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683062" y="8035409"/>
            <a:ext cx="1728192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Wrong Info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683062" y="8334375"/>
            <a:ext cx="6409492" cy="22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Incorrect details entered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7384256" y="7881938"/>
            <a:ext cx="6762274" cy="827008"/>
          </a:xfrm>
          <a:prstGeom prst="roundRect">
            <a:avLst>
              <a:gd name="adj" fmla="val 8845"/>
            </a:avLst>
          </a:prstGeom>
          <a:solidFill>
            <a:srgbClr val="F9F9FF"/>
          </a:solidFill>
          <a:ln w="1524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7369016" y="7881938"/>
            <a:ext cx="60960" cy="827008"/>
          </a:xfrm>
          <a:prstGeom prst="roundRect">
            <a:avLst>
              <a:gd name="adj" fmla="val 95257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7583448" y="8035409"/>
            <a:ext cx="1728192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Insufficient Balance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7583448" y="8334375"/>
            <a:ext cx="6409611" cy="22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Financial constraint issues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3119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83235" y="311825"/>
            <a:ext cx="48147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Seasonal Trends &amp; Service Insights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883235" y="711518"/>
            <a:ext cx="2868930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Monthly Transaction Performance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883235" y="1094184"/>
            <a:ext cx="83503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Peak month: </a:t>
            </a:r>
            <a:r>
              <a:rPr lang="en-US" sz="850" b="1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July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| Lowest: </a:t>
            </a:r>
            <a:r>
              <a:rPr lang="en-US" sz="850" b="1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February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| Strongest quarter: </a:t>
            </a:r>
            <a:r>
              <a:rPr lang="en-US" sz="850" b="1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Q3 (Jul-Sep)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883235" y="1403152"/>
            <a:ext cx="8350329" cy="1564243"/>
          </a:xfrm>
          <a:prstGeom prst="roundRect">
            <a:avLst>
              <a:gd name="adj" fmla="val 3045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6004203" y="1524119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7786" y="1617702"/>
            <a:ext cx="152995" cy="15299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04203" y="197762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Insurance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004203" y="2222778"/>
            <a:ext cx="810839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Bike Insurance: 128.10M highest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6004203" y="2443877"/>
            <a:ext cx="810839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Success rate: 95.75%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6004203" y="2664976"/>
            <a:ext cx="810839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Peaks: March, October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5883235" y="3080742"/>
            <a:ext cx="8350329" cy="1564243"/>
          </a:xfrm>
          <a:prstGeom prst="roundRect">
            <a:avLst>
              <a:gd name="adj" fmla="val 3045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6004203" y="3201710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7786" y="3295293"/>
            <a:ext cx="152995" cy="15299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04203" y="365521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Loans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004203" y="3900368"/>
            <a:ext cx="810839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Peak demand: July-September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6004203" y="4121468"/>
            <a:ext cx="810839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Success rate: 95.95%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6004203" y="4342567"/>
            <a:ext cx="810839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Gold Loan most popular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883235" y="4758333"/>
            <a:ext cx="8350329" cy="1564243"/>
          </a:xfrm>
          <a:prstGeom prst="roundRect">
            <a:avLst>
              <a:gd name="adj" fmla="val 3045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6004203" y="4879300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97786" y="4972883"/>
            <a:ext cx="152995" cy="15299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004203" y="533280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Money Transfer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004203" y="5577959"/>
            <a:ext cx="810839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Success rate: 95.98%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6004203" y="5799058"/>
            <a:ext cx="810839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UPI slightly leading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6004203" y="6020157"/>
            <a:ext cx="810839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Peak month: March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5883235" y="6435923"/>
            <a:ext cx="8350329" cy="1564243"/>
          </a:xfrm>
          <a:prstGeom prst="roundRect">
            <a:avLst>
              <a:gd name="adj" fmla="val 3045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2"/>
          <p:cNvSpPr/>
          <p:nvPr/>
        </p:nvSpPr>
        <p:spPr>
          <a:xfrm>
            <a:off x="6004203" y="6556891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97786" y="6650474"/>
            <a:ext cx="152995" cy="15299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004203" y="701040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Recharge &amp; Bills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6004203" y="7255550"/>
            <a:ext cx="810839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Success rate: 96.16%</a:t>
            </a: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6004203" y="7476649"/>
            <a:ext cx="810839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Mobile Recharge highest</a:t>
            </a:r>
            <a:endParaRPr lang="en-US" sz="850" dirty="0"/>
          </a:p>
        </p:txBody>
      </p:sp>
      <p:sp>
        <p:nvSpPr>
          <p:cNvPr id="33" name="Text 26"/>
          <p:cNvSpPr/>
          <p:nvPr/>
        </p:nvSpPr>
        <p:spPr>
          <a:xfrm>
            <a:off x="6004203" y="7697748"/>
            <a:ext cx="810839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Stable: 4.1M-4.3M monthly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4382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Key Insights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46390"/>
            <a:ext cx="4196358" cy="2394823"/>
          </a:xfrm>
          <a:prstGeom prst="roundRect">
            <a:avLst>
              <a:gd name="adj" fmla="val 6109"/>
            </a:avLst>
          </a:prstGeom>
          <a:solidFill>
            <a:srgbClr val="F9F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93790" y="2515910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551688" y="220622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55761" y="2376368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3113365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Revenue Concentration Risk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3958114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79%+ dependency on Loans—diversification needed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2546390"/>
            <a:ext cx="4196358" cy="2394823"/>
          </a:xfrm>
          <a:prstGeom prst="roundRect">
            <a:avLst>
              <a:gd name="adj" fmla="val 6109"/>
            </a:avLst>
          </a:prstGeom>
          <a:solidFill>
            <a:srgbClr val="F9F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216962" y="2515910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974860" y="220622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178933" y="2376368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74256" y="3113365"/>
            <a:ext cx="34288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Infrastructure Challenge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74256" y="3603784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Server errors account for most failures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133" y="2546390"/>
            <a:ext cx="4196358" cy="2394823"/>
          </a:xfrm>
          <a:prstGeom prst="roundRect">
            <a:avLst>
              <a:gd name="adj" fmla="val 6109"/>
            </a:avLst>
          </a:prstGeom>
          <a:solidFill>
            <a:srgbClr val="F9F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9640133" y="2515910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1398032" y="220622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1602105" y="2376368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897427" y="3113365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Customer Experience Gaps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897427" y="3958114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Wrong PIN &amp; Wrong Info errors significant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93790" y="5508188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F9F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93790" y="5477708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657540" y="5168027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861614" y="533816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51084" y="60751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Seasonal Patterns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51084" y="6565583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Mid-year and festival seasons drive peak transactions</a:t>
            </a:r>
            <a:endParaRPr lang="en-US" sz="1750" dirty="0"/>
          </a:p>
        </p:txBody>
      </p:sp>
      <p:sp>
        <p:nvSpPr>
          <p:cNvPr id="27" name="Shape 25"/>
          <p:cNvSpPr/>
          <p:nvPr/>
        </p:nvSpPr>
        <p:spPr>
          <a:xfrm>
            <a:off x="7428548" y="5508188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F9F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428548" y="5477708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10292298" y="5168027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0496371" y="533816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5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7685842" y="6075164"/>
            <a:ext cx="44279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Stable Forecasting Opportunity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685842" y="6565583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Recharge &amp; Bills show low-volatility trends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3418" y="614243"/>
            <a:ext cx="7797165" cy="1202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Recommendations &amp; Conclusion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73418" y="2298025"/>
            <a:ext cx="3663910" cy="72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Operational Improvements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673418" y="3211949"/>
            <a:ext cx="3663910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Fix top 3 failure reasons → reduce failures by 95%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73418" y="3894773"/>
            <a:ext cx="3663910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Strengthen server infrastructure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73418" y="4394954"/>
            <a:ext cx="3082052" cy="360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Customer Experience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673418" y="4948118"/>
            <a:ext cx="3663910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Simplify payment processes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73418" y="5323165"/>
            <a:ext cx="3663910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Introduce low balance alerts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814292" y="2298025"/>
            <a:ext cx="2886432" cy="360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Business Strategy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4814292" y="2851190"/>
            <a:ext cx="3663910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Diversify revenue sources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814292" y="3226237"/>
            <a:ext cx="3663910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Promote underperforming services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814292" y="3726418"/>
            <a:ext cx="3302913" cy="360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Forecasting &amp; Planning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4814292" y="4279583"/>
            <a:ext cx="3663910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stable trends for predictive modeling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814292" y="4962406"/>
            <a:ext cx="3663910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Prepare for peak periods (Q3, festivals)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73418" y="6010877"/>
            <a:ext cx="7797165" cy="31671"/>
          </a:xfrm>
          <a:prstGeom prst="rect">
            <a:avLst/>
          </a:prstGeom>
          <a:solidFill>
            <a:srgbClr val="404155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962025" y="6475452"/>
            <a:ext cx="7508558" cy="92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Comprehensive analysis reveals </a:t>
            </a:r>
            <a:r>
              <a:rPr lang="en-US" sz="1500" b="1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opportunities for operational improvements, customer satisfaction, and revenue diversification</a:t>
            </a: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 Implementing recommendations will enhance efficiency, reduce failures, and improve user trust.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73418" y="6258997"/>
            <a:ext cx="22860" cy="1356241"/>
          </a:xfrm>
          <a:prstGeom prst="rect">
            <a:avLst/>
          </a:prstGeom>
          <a:solidFill>
            <a:srgbClr val="1B54DA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425</Words>
  <Application>Microsoft Office PowerPoint</Application>
  <PresentationFormat>Custom</PresentationFormat>
  <Paragraphs>122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Nobile</vt:lpstr>
      <vt:lpstr>Alexandria Light</vt:lpstr>
      <vt:lpstr>Alexandria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MOHSIN AKTAR</dc:creator>
  <cp:lastModifiedBy>Jwel Aktar</cp:lastModifiedBy>
  <cp:revision>2</cp:revision>
  <dcterms:created xsi:type="dcterms:W3CDTF">2025-11-20T15:50:11Z</dcterms:created>
  <dcterms:modified xsi:type="dcterms:W3CDTF">2025-11-20T15:52:29Z</dcterms:modified>
</cp:coreProperties>
</file>